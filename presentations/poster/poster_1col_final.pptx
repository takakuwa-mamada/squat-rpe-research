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9361384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8995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レジスタンストレーニングにおける単眼動画の骨格推定とバーベル挙上速度を用いた RPE 推定とその妥当性検証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28995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情報科学域   25XXXXXX   M. Mamada       指導教員  横山 昌平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29361384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57600"/>
            <a:ext cx="28629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4663440"/>
            <a:ext cx="29361384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28629864" cy="1828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・パワーリフティングにおいて、主観的運動強度 RPE (Rating of Perceived Exertion) は「あと何レップ余力があるか (RIR)」で申告する評価法として、Zourdos et al. (2016) 以降広く用いられている。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・しかし RPE は主観指標のため、個人差・経験差が大きく、客観的な計測が求められている。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6812280"/>
            <a:ext cx="28629864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課題：客観的センサ情報から RPE を推定する手法の確立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22960" y="7543800"/>
            <a:ext cx="28629864" cy="1417320"/>
          </a:xfrm>
          <a:prstGeom prst="rect">
            <a:avLst/>
          </a:prstGeom>
          <a:solidFill>
            <a:srgbClr val="F0F4F8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7589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8046720"/>
            <a:ext cx="28172664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・速度ベーストレーニング (VBT) はバー速度から負荷を推定するが、フォーム崩れなどの質的変化を捉えられない。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・単一モダリティ (IMUのみ or 動画のみ) では情報が不完全。特に動画では、バーベルによる遮蔽で骨格推定が破綻するケースが報告されている。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9144000"/>
            <a:ext cx="29361384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9144000"/>
            <a:ext cx="28629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提案手法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57200" y="10149840"/>
            <a:ext cx="29361384" cy="8595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0424160"/>
            <a:ext cx="28446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バー装着 IMU による挙上速度と、単眼動画からの骨格推定を統合し、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24次元特徴量ベクトルから RPE を推定するマルチモーダル手法を提案する。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11338560"/>
            <a:ext cx="28446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IMU によるバー速度の計測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188720" y="11978640"/>
            <a:ext cx="28172664" cy="1737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・M5StickC Plus (MPU6886内蔵) をバーシャフト中央に固定。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・加速度3軸・角速度3軸を100Hzで取得し、Wi-Fi (UDP) でPCへリアルタイム送信。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・鉛直加速度 az を積分して速度を推定し、MPV, ピーク速度, RMS, Jerk, 速度低下率 (Velocity Loss) など全19次元の特徴量を算出。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13716000"/>
            <a:ext cx="28446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単眼動画からの骨格推定 (2 手法を比較検証)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1188720" y="14356080"/>
            <a:ext cx="28172664" cy="1920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・被験者側面をスマートフォンで撮影 (60fps, フルHD)。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・① MediaPipe Pose (33点、軽量・高速だが遮蔽に脆弱)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・② YOLO26 Pose (17点、2026年1月リリースの SOTA モデル、遮蔽下で頑健)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・両モデルの検出精度・失敗率・異常値率を定量比較し、有効なモデルを選定。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16276320"/>
            <a:ext cx="28446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マルチモーダル特徴量統合と RPE 推定 (実装済み)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188720" y="16916400"/>
            <a:ext cx="28172664" cy="21031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・IMU 由来 19次元 + 骨格由来 5次元 = 計 24次元の試技特徴量ベクトルを構築。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・メタデータ (重量, レップ数, RPEラベル) と紐付けて data/&lt;被験者&gt;/&lt;セッション&gt;/ 配下に格納。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・線形回帰 (VBT準拠ベースライン) / Random Forest / Gradient Boosting の3モデルで RPE を推定。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・被験者間 Leave-One-Subject-Out (LOSO) クロスバリデーションで汎化性能を評価。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457200" y="19110960"/>
            <a:ext cx="29361384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9110960"/>
            <a:ext cx="28629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457200" y="20116800"/>
            <a:ext cx="29361384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0391120"/>
            <a:ext cx="28446984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・対象種目: バックスクワット (60〜95% 1RM の段階的負荷)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・計測装置: M5StickC Plus (バー装着) + iPhone (側面視, 60fps, フルHD)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・プロトコル: ウォームアップ後、各セットを全力挙上し、セット終了後15秒以内にRPEを聴取 (González-Badillo, 2010 に準拠)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・比較手法: MediaPipe Pose v0.10.14 vs Ultralytics YOLO26 Pose (2026年1月リリース、SOTA)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・評価指標: MAE, RMSE, ±1 RPE 以内ヒット率 (先行研究比較値: 93%)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・検証戦略: 被験者間 Leave-One-Subject-Out (LOSO) クロスバリデーション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57200" y="24597360"/>
            <a:ext cx="29361384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4597360"/>
            <a:ext cx="28629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457200" y="25603200"/>
            <a:ext cx="29361384" cy="8138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5877520"/>
            <a:ext cx="28446984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・骨格推定において、MediaPipe はバーベル・セーフティバーの遮蔽で破綻したが、YOLO26 で頑健性が大幅に向上した。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・合成データによる予備検証で、Gradient Boosting モデルが被験者間 LOSO CV で MAE=0.18, ±1RPE以内 100% を達成。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4400" y="27523440"/>
            <a:ext cx="13994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表1: 骨格推定モデルの比較 (側面視動画)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14400" y="28026360"/>
            <a:ext cx="1399489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28026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108960" y="2802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94960" y="2802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80960" y="28026360"/>
            <a:ext cx="7228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14400" y="28529280"/>
            <a:ext cx="139948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28529280"/>
            <a:ext cx="21945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検出失敗率 (NaN率)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3108960" y="2852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5394960" y="2852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7680960" y="28529280"/>
            <a:ext cx="7228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▼26pt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914400" y="29032200"/>
            <a:ext cx="13994892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29032200"/>
            <a:ext cx="21945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体幹前傾の異常値率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3108960" y="29032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5394960" y="29032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7680960" y="29032200"/>
            <a:ext cx="7228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▼29pt</a:t>
            </a:r>
            <a:endParaRPr lang="en-US" sz="1900" dirty="0"/>
          </a:p>
        </p:txBody>
      </p:sp>
      <p:sp>
        <p:nvSpPr>
          <p:cNvPr id="47" name="Shape 45"/>
          <p:cNvSpPr/>
          <p:nvPr/>
        </p:nvSpPr>
        <p:spPr>
          <a:xfrm>
            <a:off x="914400" y="29535120"/>
            <a:ext cx="139948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29535120"/>
            <a:ext cx="21945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膝角度の異常値率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3108960" y="29535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5394960" y="29535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7680960" y="29535120"/>
            <a:ext cx="7228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▼17pt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914400" y="30038040"/>
            <a:ext cx="13994892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30038040"/>
            <a:ext cx="21945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左右非対称の異常値率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3108960" y="30038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5394960" y="30038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7680960" y="30038040"/>
            <a:ext cx="7228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▼23pt</a:t>
            </a:r>
            <a:endParaRPr lang="en-US" sz="1900" dirty="0"/>
          </a:p>
        </p:txBody>
      </p:sp>
      <p:sp>
        <p:nvSpPr>
          <p:cNvPr id="57" name="Text 55"/>
          <p:cNvSpPr/>
          <p:nvPr/>
        </p:nvSpPr>
        <p:spPr>
          <a:xfrm>
            <a:off x="15366492" y="27523440"/>
            <a:ext cx="139948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表2: RPE 推定モデル比較 (合成データ N=42, 3subj, LOSO CV)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15366492" y="28026360"/>
            <a:ext cx="1399489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366492" y="28026360"/>
            <a:ext cx="9240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24606504" y="28026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26069544" y="28026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7532584" y="28026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±1RPE 以内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15366492" y="28529280"/>
            <a:ext cx="139948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366492" y="28529280"/>
            <a:ext cx="9240012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(VBT準拠)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24606504" y="28529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</a:t>
            </a:r>
            <a:endParaRPr lang="en-US" sz="1900" dirty="0"/>
          </a:p>
        </p:txBody>
      </p:sp>
      <p:sp>
        <p:nvSpPr>
          <p:cNvPr id="66" name="Text 64"/>
          <p:cNvSpPr/>
          <p:nvPr/>
        </p:nvSpPr>
        <p:spPr>
          <a:xfrm>
            <a:off x="26069544" y="28529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</a:t>
            </a:r>
            <a:endParaRPr lang="en-US" sz="1900" dirty="0"/>
          </a:p>
        </p:txBody>
      </p:sp>
      <p:sp>
        <p:nvSpPr>
          <p:cNvPr id="67" name="Text 65"/>
          <p:cNvSpPr/>
          <p:nvPr/>
        </p:nvSpPr>
        <p:spPr>
          <a:xfrm>
            <a:off x="27532584" y="28529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95.2%</a:t>
            </a:r>
            <a:endParaRPr lang="en-US" sz="1900" dirty="0"/>
          </a:p>
        </p:txBody>
      </p:sp>
      <p:sp>
        <p:nvSpPr>
          <p:cNvPr id="68" name="Shape 66"/>
          <p:cNvSpPr/>
          <p:nvPr/>
        </p:nvSpPr>
        <p:spPr>
          <a:xfrm>
            <a:off x="15366492" y="29032200"/>
            <a:ext cx="13994892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5366492" y="29032200"/>
            <a:ext cx="9240012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70" name="Text 68"/>
          <p:cNvSpPr/>
          <p:nvPr/>
        </p:nvSpPr>
        <p:spPr>
          <a:xfrm>
            <a:off x="24606504" y="29032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1900" dirty="0"/>
          </a:p>
        </p:txBody>
      </p:sp>
      <p:sp>
        <p:nvSpPr>
          <p:cNvPr id="71" name="Text 69"/>
          <p:cNvSpPr/>
          <p:nvPr/>
        </p:nvSpPr>
        <p:spPr>
          <a:xfrm>
            <a:off x="26069544" y="29032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1900" dirty="0"/>
          </a:p>
        </p:txBody>
      </p:sp>
      <p:sp>
        <p:nvSpPr>
          <p:cNvPr id="72" name="Text 70"/>
          <p:cNvSpPr/>
          <p:nvPr/>
        </p:nvSpPr>
        <p:spPr>
          <a:xfrm>
            <a:off x="27532584" y="29032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00" dirty="0"/>
          </a:p>
        </p:txBody>
      </p:sp>
      <p:sp>
        <p:nvSpPr>
          <p:cNvPr id="73" name="Shape 71"/>
          <p:cNvSpPr/>
          <p:nvPr/>
        </p:nvSpPr>
        <p:spPr>
          <a:xfrm>
            <a:off x="15366492" y="29535120"/>
            <a:ext cx="139948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366492" y="29535120"/>
            <a:ext cx="9240012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900" dirty="0"/>
          </a:p>
        </p:txBody>
      </p:sp>
      <p:sp>
        <p:nvSpPr>
          <p:cNvPr id="75" name="Text 73"/>
          <p:cNvSpPr/>
          <p:nvPr/>
        </p:nvSpPr>
        <p:spPr>
          <a:xfrm>
            <a:off x="24606504" y="29535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1900" dirty="0"/>
          </a:p>
        </p:txBody>
      </p:sp>
      <p:sp>
        <p:nvSpPr>
          <p:cNvPr id="76" name="Text 74"/>
          <p:cNvSpPr/>
          <p:nvPr/>
        </p:nvSpPr>
        <p:spPr>
          <a:xfrm>
            <a:off x="26069544" y="29535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1900" dirty="0"/>
          </a:p>
        </p:txBody>
      </p:sp>
      <p:sp>
        <p:nvSpPr>
          <p:cNvPr id="77" name="Text 75"/>
          <p:cNvSpPr/>
          <p:nvPr/>
        </p:nvSpPr>
        <p:spPr>
          <a:xfrm>
            <a:off x="27532584" y="29535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00" dirty="0"/>
          </a:p>
        </p:txBody>
      </p:sp>
      <p:sp>
        <p:nvSpPr>
          <p:cNvPr id="78" name="Shape 76"/>
          <p:cNvSpPr/>
          <p:nvPr/>
        </p:nvSpPr>
        <p:spPr>
          <a:xfrm>
            <a:off x="914400" y="30632400"/>
            <a:ext cx="28446984" cy="2377440"/>
          </a:xfrm>
          <a:prstGeom prst="rect">
            <a:avLst/>
          </a:prstGeom>
          <a:solidFill>
            <a:srgbClr val="F0F4F8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97280" y="30723840"/>
            <a:ext cx="28081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現時点までの実装済み成果</a:t>
            </a:r>
            <a:endParaRPr lang="en-US" sz="2300" dirty="0"/>
          </a:p>
        </p:txBody>
      </p:sp>
      <p:sp>
        <p:nvSpPr>
          <p:cNvPr id="80" name="Text 78"/>
          <p:cNvSpPr/>
          <p:nvPr/>
        </p:nvSpPr>
        <p:spPr>
          <a:xfrm>
            <a:off x="1143000" y="31272480"/>
            <a:ext cx="27989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M5StickC + Wi-Fi(UDP) によるリアルタイム IMU 計測系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MediaPipe / YOLO26 両骨格推定パイプラインと定量比較スクリプト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24 次元特徴量抽出とベースライン RPE 推定モデル (Linear / RF / GB)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被験者間 LOSO CV 評価フレームワークとメタデータ管理 (xlsx テンプレート)</a:t>
            </a:r>
            <a:endParaRPr lang="en-US" sz="2000" dirty="0"/>
          </a:p>
        </p:txBody>
      </p:sp>
      <p:sp>
        <p:nvSpPr>
          <p:cNvPr id="81" name="Shape 79"/>
          <p:cNvSpPr/>
          <p:nvPr/>
        </p:nvSpPr>
        <p:spPr>
          <a:xfrm>
            <a:off x="457200" y="34107120"/>
            <a:ext cx="29361384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2960" y="34107120"/>
            <a:ext cx="28629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まとめ・今後の課題</a:t>
            </a:r>
            <a:endParaRPr lang="en-US" sz="3000" dirty="0"/>
          </a:p>
        </p:txBody>
      </p:sp>
      <p:sp>
        <p:nvSpPr>
          <p:cNvPr id="83" name="Shape 81"/>
          <p:cNvSpPr/>
          <p:nvPr/>
        </p:nvSpPr>
        <p:spPr>
          <a:xfrm>
            <a:off x="457200" y="35112960"/>
            <a:ext cx="29361384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4400" y="35387280"/>
            <a:ext cx="141320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2500" dirty="0"/>
          </a:p>
        </p:txBody>
      </p:sp>
      <p:sp>
        <p:nvSpPr>
          <p:cNvPr id="85" name="Text 83"/>
          <p:cNvSpPr/>
          <p:nvPr/>
        </p:nvSpPr>
        <p:spPr>
          <a:xfrm>
            <a:off x="914400" y="36027360"/>
            <a:ext cx="14132052" cy="3657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・バー IMU と骨格推定を統合するマルチモーダル RPE 推定システムを設計・実装した。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・単眼側面視動画において、MediaPipe Pose の検出失敗率 32% に対し、YOLO26 Pose 採用で 6% まで低減した (▼26pt)。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・合成データを用いたパイプライン検証で、Gradient Boosting が被験者間 LOSO CV で MAE=0.18, ±1RPE 以内 100% を達成した。</a:t>
            </a:r>
            <a:endParaRPr lang="en-US" sz="2100" dirty="0"/>
          </a:p>
        </p:txBody>
      </p:sp>
      <p:sp>
        <p:nvSpPr>
          <p:cNvPr id="86" name="Text 84"/>
          <p:cNvSpPr/>
          <p:nvPr/>
        </p:nvSpPr>
        <p:spPr>
          <a:xfrm>
            <a:off x="15229332" y="35387280"/>
            <a:ext cx="141320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今後の課題</a:t>
            </a:r>
            <a:endParaRPr lang="en-US" sz="2500" dirty="0"/>
          </a:p>
        </p:txBody>
      </p:sp>
      <p:sp>
        <p:nvSpPr>
          <p:cNvPr id="87" name="Text 85"/>
          <p:cNvSpPr/>
          <p:nvPr/>
        </p:nvSpPr>
        <p:spPr>
          <a:xfrm>
            <a:off x="15229332" y="36027360"/>
            <a:ext cx="14132052" cy="3657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・実被験者データの収集 (N=10-15 を目標、倫理審査申請中)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・撮影角度の最適化 (真横 vs 斜め 45 度の比較検証)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・IMU と動画の高精度時刻同期 (LED フラッシュ法の実装)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・Mean Propulsive Velocity (MPV) 等の追加特徴量による精度改善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・アブレーション研究 (IMU only vs Pose only vs 統合)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・実運用を想定したリアルタイム推論・エッジ実装への発展</a:t>
            </a:r>
            <a:endParaRPr lang="en-US" sz="2100" dirty="0"/>
          </a:p>
        </p:txBody>
      </p:sp>
      <p:sp>
        <p:nvSpPr>
          <p:cNvPr id="88" name="Text 86"/>
          <p:cNvSpPr/>
          <p:nvPr/>
        </p:nvSpPr>
        <p:spPr>
          <a:xfrm>
            <a:off x="457200" y="41980104"/>
            <a:ext cx="2936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主要参考文献: González-Badillo &amp; Sánchez-Medina (2010) Int J Sports Med. | Zourdos et al. (2016) J Strength Cond Res. | Bazarevsky et al. (2020) BlazePose, arXiv. | Ultralytics YOLO26 (2026) arXiv:2606.03748.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457200" y="42437304"/>
            <a:ext cx="29361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 中間発表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2026-07-23T08:14:50Z</dcterms:created>
  <dcterms:modified xsi:type="dcterms:W3CDTF">2026-07-23T08:14:50Z</dcterms:modified>
</cp:coreProperties>
</file>