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47548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93613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レジスタンストレーニングにおける単眼動画の骨格推定と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バーベル挙上速度を用いたRPE推定とその妥当性検証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29361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東京都立大学 システムデザイン研究科 情報科学域 横山研究室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29361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Mamada     (指導教員: Prof. Shohei Yokoyama)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5303520"/>
            <a:ext cx="960120" cy="9601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035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737360" y="5303520"/>
            <a:ext cx="131719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0080" y="6400800"/>
            <a:ext cx="14269212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675120"/>
            <a:ext cx="14269212" cy="5943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パワーリフティングにおける RPE (Rating of Perceived Exertion)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自身の主観的運動強度を「あと何レップ余力があるか (RIR)」で申告する評価法。Zourdos et al. (2016) により提案され、競技現場で広く用いられている。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既存手法の限界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RPEは主観的で個人差・経験差が大きく、初心者ほど精度が低い。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速度ベーストレーニング (VBT) はバーの速度から客観的に負荷を推定するが、フォーム崩れなどの質的変化を捉えられない。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単一モダリティ (IMU or 動画のみ) では情報が不完全。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本研究の狙い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装着IMUによる挙上速度と、単眼動画からの骨格推定を統合し、客観的センサ情報からRPEを推定するマルチモーダル手法を提案・妥当性検証する。VBT単独より高い精度、および従来にはないフォーム観点の情報を取り込むことを目指す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0"/>
            <a:ext cx="14269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表1: パワーリフティング RPE スケール (Zourdos, 2016)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13350240"/>
            <a:ext cx="13720572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335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13350240"/>
            <a:ext cx="12074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意味 (RIR: あと何レップ余力があるか)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1394460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394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697480" y="1394460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1RM。これ以上1レップも不可能 (RIR=0)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1449324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1449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697480" y="1449324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1レップの余力あり、ただしフォーム崩れ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4400" y="1504188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504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697480" y="1504188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あと1レップの余力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14400" y="1559052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15590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697480" y="1559052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あと2レップの余力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4400" y="1613916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16139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697480" y="1613916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あと3レップの余力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14400" y="1668780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16687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2697480" y="1668780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あと4〜6レップの余力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40080" y="17967960"/>
            <a:ext cx="960120" cy="9601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179679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1737360" y="17967960"/>
            <a:ext cx="131719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提案手法</a:t>
            </a:r>
            <a:endParaRPr lang="en-US" sz="3600" dirty="0"/>
          </a:p>
        </p:txBody>
      </p:sp>
      <p:sp>
        <p:nvSpPr>
          <p:cNvPr id="36" name="Shape 34"/>
          <p:cNvSpPr/>
          <p:nvPr/>
        </p:nvSpPr>
        <p:spPr>
          <a:xfrm>
            <a:off x="640080" y="19065240"/>
            <a:ext cx="14269212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1933956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システム全体構成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640080" y="19979640"/>
            <a:ext cx="4573524" cy="2286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20116800"/>
            <a:ext cx="45735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バー装着 IMU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31520" y="20756880"/>
            <a:ext cx="43906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M5StickC Plus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加速度3軸 + ジャイロ3軸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(UDP) @ 100Hz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5487924" y="19979640"/>
            <a:ext cx="4573524" cy="2286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7924" y="20116800"/>
            <a:ext cx="45735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側面カメラ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579364" y="20756880"/>
            <a:ext cx="43906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スマートフォン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単眼動画 @ 60fps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フルHD以上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10335768" y="19979640"/>
            <a:ext cx="4573524" cy="2286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35768" y="20116800"/>
            <a:ext cx="45735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PC 受信・解析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427208" y="20756880"/>
            <a:ext cx="43906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リアルタイム受信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特徴量抽出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 推定モデル</a:t>
            </a:r>
            <a:endParaRPr lang="en-US" sz="1900" dirty="0"/>
          </a:p>
        </p:txBody>
      </p:sp>
      <p:sp>
        <p:nvSpPr>
          <p:cNvPr id="47" name="Shape 45"/>
          <p:cNvSpPr/>
          <p:nvPr/>
        </p:nvSpPr>
        <p:spPr>
          <a:xfrm>
            <a:off x="5259324" y="20985480"/>
            <a:ext cx="228600" cy="274320"/>
          </a:xfrm>
          <a:prstGeom prst="rightTriangl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07168" y="20985480"/>
            <a:ext cx="228600" cy="274320"/>
          </a:xfrm>
          <a:prstGeom prst="rightTriangl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2281428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処理パイプライン</a:t>
            </a:r>
            <a:endParaRPr lang="en-US" sz="2600" dirty="0"/>
          </a:p>
        </p:txBody>
      </p:sp>
      <p:sp>
        <p:nvSpPr>
          <p:cNvPr id="50" name="Shape 48"/>
          <p:cNvSpPr/>
          <p:nvPr/>
        </p:nvSpPr>
        <p:spPr>
          <a:xfrm>
            <a:off x="640080" y="2372868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2372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400" dirty="0"/>
          </a:p>
        </p:txBody>
      </p:sp>
      <p:sp>
        <p:nvSpPr>
          <p:cNvPr id="52" name="Text 50"/>
          <p:cNvSpPr/>
          <p:nvPr/>
        </p:nvSpPr>
        <p:spPr>
          <a:xfrm>
            <a:off x="1828800" y="23454360"/>
            <a:ext cx="13080492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特徴量抽出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鉛直加速度 az を積分して速度を推定。MPV, ピーク速度,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RMS, Jerk, 速度低下率 (Velocity Loss) など全19次元。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640080" y="2546604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2546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400" dirty="0"/>
          </a:p>
        </p:txBody>
      </p:sp>
      <p:sp>
        <p:nvSpPr>
          <p:cNvPr id="55" name="Text 53"/>
          <p:cNvSpPr/>
          <p:nvPr/>
        </p:nvSpPr>
        <p:spPr>
          <a:xfrm>
            <a:off x="1828800" y="25191720"/>
            <a:ext cx="13080492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骨格推定 (2手法を比較検証)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MediaPipe Pose (33点): 高速・軽量、しかし遮蔽に脆弱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YOLO26 Pose (17点): 遮蔽下で頑健、SOTA (2026年1月)</a:t>
            </a:r>
            <a:endParaRPr lang="en-US" sz="2400" dirty="0"/>
          </a:p>
        </p:txBody>
      </p:sp>
      <p:sp>
        <p:nvSpPr>
          <p:cNvPr id="56" name="Shape 54"/>
          <p:cNvSpPr/>
          <p:nvPr/>
        </p:nvSpPr>
        <p:spPr>
          <a:xfrm>
            <a:off x="640080" y="2720340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27203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400" dirty="0"/>
          </a:p>
        </p:txBody>
      </p:sp>
      <p:sp>
        <p:nvSpPr>
          <p:cNvPr id="58" name="Text 56"/>
          <p:cNvSpPr/>
          <p:nvPr/>
        </p:nvSpPr>
        <p:spPr>
          <a:xfrm>
            <a:off x="1828800" y="26929080"/>
            <a:ext cx="13080492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特徴量ベクトル構築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19次元 + Pose 5次元 = 24次元の試技特徴量ベクトル。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メタデータ (重量, レップ数, RPEラベル) と紐付けて保存。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640080" y="2894076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28940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3400" dirty="0"/>
          </a:p>
        </p:txBody>
      </p:sp>
      <p:sp>
        <p:nvSpPr>
          <p:cNvPr id="61" name="Text 59"/>
          <p:cNvSpPr/>
          <p:nvPr/>
        </p:nvSpPr>
        <p:spPr>
          <a:xfrm>
            <a:off x="1828800" y="28666440"/>
            <a:ext cx="13080492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 推定モデル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Linear (VBT準拠) ② Random Forest ③ Gradient Boosting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評価: 被験者間 Leave-One-Subject-Out クロスバリデーション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15366492" y="5303520"/>
            <a:ext cx="960120" cy="9601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366492" y="53035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64" name="Text 62"/>
          <p:cNvSpPr/>
          <p:nvPr/>
        </p:nvSpPr>
        <p:spPr>
          <a:xfrm>
            <a:off x="16463772" y="5303520"/>
            <a:ext cx="131719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</a:t>
            </a:r>
            <a:endParaRPr lang="en-US" sz="3600" dirty="0"/>
          </a:p>
        </p:txBody>
      </p:sp>
      <p:sp>
        <p:nvSpPr>
          <p:cNvPr id="65" name="Shape 63"/>
          <p:cNvSpPr/>
          <p:nvPr/>
        </p:nvSpPr>
        <p:spPr>
          <a:xfrm>
            <a:off x="15366492" y="6400800"/>
            <a:ext cx="14269212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366492" y="6675120"/>
            <a:ext cx="14269212" cy="7772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実験環境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・種目: バックスクワット (60〜95% 1RM の段階負荷)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・IMU: M5StickC Plus (MPU6886内蔵、バーシャフト中央固定)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・カメラ: iPhone (側面視、60fps、フルHD)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・通信: Wi-Fi (UDP) 100Hz サンプリング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実験プロトコル (先行研究 González-Badillo, 2010 に準拠)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ウォームアップ後、段階的負荷 (60/70/80/90/95% 1RM)。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各セットを全力挙上、セット後15秒以内にRPEを聴取。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IMU と動画を同期記録、CSV と MP4 で保存。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評価指標・検証戦略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・MAE, RMSE, ±1RPE以内ヒット率 (先行研究比較値: 93%)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・被験者間 Leave-One-Subject-Out (LOSO) クロスバリデーション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・アブレーション研究による各モダリティの寄与度定量化</a:t>
            </a:r>
            <a:endParaRPr lang="en-US" sz="2400" dirty="0"/>
          </a:p>
        </p:txBody>
      </p:sp>
      <p:sp>
        <p:nvSpPr>
          <p:cNvPr id="67" name="Shape 65"/>
          <p:cNvSpPr/>
          <p:nvPr/>
        </p:nvSpPr>
        <p:spPr>
          <a:xfrm>
            <a:off x="15366492" y="14630400"/>
            <a:ext cx="960120" cy="9601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5366492" y="14630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69" name="Text 67"/>
          <p:cNvSpPr/>
          <p:nvPr/>
        </p:nvSpPr>
        <p:spPr>
          <a:xfrm>
            <a:off x="16463772" y="14630400"/>
            <a:ext cx="131719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 (中間報告)</a:t>
            </a:r>
            <a:endParaRPr lang="en-US" sz="3600" dirty="0"/>
          </a:p>
        </p:txBody>
      </p:sp>
      <p:sp>
        <p:nvSpPr>
          <p:cNvPr id="70" name="Shape 68"/>
          <p:cNvSpPr/>
          <p:nvPr/>
        </p:nvSpPr>
        <p:spPr>
          <a:xfrm>
            <a:off x="15366492" y="15727680"/>
            <a:ext cx="14269212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5366492" y="1600200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骨格推定モデルの比較 (側面視動画)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15366492" y="16596360"/>
            <a:ext cx="1426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MediaPipeはバーベル・セーフティバーの遮蔽で破綻。YOLO26で頑健性が大幅に向上。</a:t>
            </a:r>
            <a:endParaRPr lang="en-US" sz="1900" dirty="0"/>
          </a:p>
        </p:txBody>
      </p:sp>
      <p:sp>
        <p:nvSpPr>
          <p:cNvPr id="73" name="Shape 71"/>
          <p:cNvSpPr/>
          <p:nvPr/>
        </p:nvSpPr>
        <p:spPr>
          <a:xfrm>
            <a:off x="15640812" y="17099280"/>
            <a:ext cx="13720572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640812" y="17099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指標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20670012" y="1709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23413212" y="1709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26156412" y="17099280"/>
            <a:ext cx="32049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</a:t>
            </a:r>
            <a:endParaRPr lang="en-US" sz="2200" dirty="0"/>
          </a:p>
        </p:txBody>
      </p:sp>
      <p:sp>
        <p:nvSpPr>
          <p:cNvPr id="78" name="Shape 76"/>
          <p:cNvSpPr/>
          <p:nvPr/>
        </p:nvSpPr>
        <p:spPr>
          <a:xfrm>
            <a:off x="15640812" y="1769364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640812" y="17693640"/>
            <a:ext cx="50292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検出失敗率 (NaN率)</a:t>
            </a:r>
            <a:endParaRPr lang="en-US" sz="2100" dirty="0"/>
          </a:p>
        </p:txBody>
      </p:sp>
      <p:sp>
        <p:nvSpPr>
          <p:cNvPr id="80" name="Text 78"/>
          <p:cNvSpPr/>
          <p:nvPr/>
        </p:nvSpPr>
        <p:spPr>
          <a:xfrm>
            <a:off x="20670012" y="17693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100" dirty="0"/>
          </a:p>
        </p:txBody>
      </p:sp>
      <p:sp>
        <p:nvSpPr>
          <p:cNvPr id="81" name="Text 79"/>
          <p:cNvSpPr/>
          <p:nvPr/>
        </p:nvSpPr>
        <p:spPr>
          <a:xfrm>
            <a:off x="23413212" y="17693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100" dirty="0"/>
          </a:p>
        </p:txBody>
      </p:sp>
      <p:sp>
        <p:nvSpPr>
          <p:cNvPr id="82" name="Text 80"/>
          <p:cNvSpPr/>
          <p:nvPr/>
        </p:nvSpPr>
        <p:spPr>
          <a:xfrm>
            <a:off x="26156412" y="17693640"/>
            <a:ext cx="32049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▼26pt</a:t>
            </a:r>
            <a:endParaRPr lang="en-US" sz="2100" dirty="0"/>
          </a:p>
        </p:txBody>
      </p:sp>
      <p:sp>
        <p:nvSpPr>
          <p:cNvPr id="83" name="Shape 81"/>
          <p:cNvSpPr/>
          <p:nvPr/>
        </p:nvSpPr>
        <p:spPr>
          <a:xfrm>
            <a:off x="15640812" y="1824228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5640812" y="18242280"/>
            <a:ext cx="50292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体幹前傾の異常値率</a:t>
            </a:r>
            <a:endParaRPr lang="en-US" sz="2100" dirty="0"/>
          </a:p>
        </p:txBody>
      </p:sp>
      <p:sp>
        <p:nvSpPr>
          <p:cNvPr id="85" name="Text 83"/>
          <p:cNvSpPr/>
          <p:nvPr/>
        </p:nvSpPr>
        <p:spPr>
          <a:xfrm>
            <a:off x="20670012" y="18242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100" dirty="0"/>
          </a:p>
        </p:txBody>
      </p:sp>
      <p:sp>
        <p:nvSpPr>
          <p:cNvPr id="86" name="Text 84"/>
          <p:cNvSpPr/>
          <p:nvPr/>
        </p:nvSpPr>
        <p:spPr>
          <a:xfrm>
            <a:off x="23413212" y="18242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2100" dirty="0"/>
          </a:p>
        </p:txBody>
      </p:sp>
      <p:sp>
        <p:nvSpPr>
          <p:cNvPr id="87" name="Text 85"/>
          <p:cNvSpPr/>
          <p:nvPr/>
        </p:nvSpPr>
        <p:spPr>
          <a:xfrm>
            <a:off x="26156412" y="18242280"/>
            <a:ext cx="32049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▼29pt</a:t>
            </a:r>
            <a:endParaRPr lang="en-US" sz="2100" dirty="0"/>
          </a:p>
        </p:txBody>
      </p:sp>
      <p:sp>
        <p:nvSpPr>
          <p:cNvPr id="88" name="Shape 86"/>
          <p:cNvSpPr/>
          <p:nvPr/>
        </p:nvSpPr>
        <p:spPr>
          <a:xfrm>
            <a:off x="15640812" y="1879092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5640812" y="18790920"/>
            <a:ext cx="50292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膝角度の異常値率</a:t>
            </a:r>
            <a:endParaRPr lang="en-US" sz="2100" dirty="0"/>
          </a:p>
        </p:txBody>
      </p:sp>
      <p:sp>
        <p:nvSpPr>
          <p:cNvPr id="90" name="Text 88"/>
          <p:cNvSpPr/>
          <p:nvPr/>
        </p:nvSpPr>
        <p:spPr>
          <a:xfrm>
            <a:off x="20670012" y="18790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100" dirty="0"/>
          </a:p>
        </p:txBody>
      </p:sp>
      <p:sp>
        <p:nvSpPr>
          <p:cNvPr id="91" name="Text 89"/>
          <p:cNvSpPr/>
          <p:nvPr/>
        </p:nvSpPr>
        <p:spPr>
          <a:xfrm>
            <a:off x="23413212" y="18790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2100" dirty="0"/>
          </a:p>
        </p:txBody>
      </p:sp>
      <p:sp>
        <p:nvSpPr>
          <p:cNvPr id="92" name="Text 90"/>
          <p:cNvSpPr/>
          <p:nvPr/>
        </p:nvSpPr>
        <p:spPr>
          <a:xfrm>
            <a:off x="26156412" y="18790920"/>
            <a:ext cx="32049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▼17pt</a:t>
            </a:r>
            <a:endParaRPr lang="en-US" sz="2100" dirty="0"/>
          </a:p>
        </p:txBody>
      </p:sp>
      <p:sp>
        <p:nvSpPr>
          <p:cNvPr id="93" name="Shape 91"/>
          <p:cNvSpPr/>
          <p:nvPr/>
        </p:nvSpPr>
        <p:spPr>
          <a:xfrm>
            <a:off x="15640812" y="1933956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5640812" y="19339560"/>
            <a:ext cx="50292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左右非対称の異常値率</a:t>
            </a:r>
            <a:endParaRPr lang="en-US" sz="2100" dirty="0"/>
          </a:p>
        </p:txBody>
      </p:sp>
      <p:sp>
        <p:nvSpPr>
          <p:cNvPr id="95" name="Text 93"/>
          <p:cNvSpPr/>
          <p:nvPr/>
        </p:nvSpPr>
        <p:spPr>
          <a:xfrm>
            <a:off x="20670012" y="19339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100" dirty="0"/>
          </a:p>
        </p:txBody>
      </p:sp>
      <p:sp>
        <p:nvSpPr>
          <p:cNvPr id="96" name="Text 94"/>
          <p:cNvSpPr/>
          <p:nvPr/>
        </p:nvSpPr>
        <p:spPr>
          <a:xfrm>
            <a:off x="23413212" y="19339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100" dirty="0"/>
          </a:p>
        </p:txBody>
      </p:sp>
      <p:sp>
        <p:nvSpPr>
          <p:cNvPr id="97" name="Text 95"/>
          <p:cNvSpPr/>
          <p:nvPr/>
        </p:nvSpPr>
        <p:spPr>
          <a:xfrm>
            <a:off x="26156412" y="19339560"/>
            <a:ext cx="32049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▼23pt</a:t>
            </a:r>
            <a:endParaRPr lang="en-US" sz="2100" dirty="0"/>
          </a:p>
        </p:txBody>
      </p:sp>
      <p:sp>
        <p:nvSpPr>
          <p:cNvPr id="98" name="Text 96"/>
          <p:cNvSpPr/>
          <p:nvPr/>
        </p:nvSpPr>
        <p:spPr>
          <a:xfrm>
            <a:off x="15366492" y="2052828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RPE 推定モデルの予備検証 (合成データ N=42, 3subjects)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15366492" y="21122640"/>
            <a:ext cx="14269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被験者間 LOSO CV。パイプライン検証のための合成データによる予備結果。</a:t>
            </a:r>
            <a:endParaRPr lang="en-US" sz="1900" dirty="0"/>
          </a:p>
        </p:txBody>
      </p:sp>
      <p:sp>
        <p:nvSpPr>
          <p:cNvPr id="100" name="Shape 98"/>
          <p:cNvSpPr/>
          <p:nvPr/>
        </p:nvSpPr>
        <p:spPr>
          <a:xfrm>
            <a:off x="15640812" y="21625560"/>
            <a:ext cx="13720572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5640812" y="21625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</a:t>
            </a:r>
            <a:endParaRPr lang="en-US" sz="2200" dirty="0"/>
          </a:p>
        </p:txBody>
      </p:sp>
      <p:sp>
        <p:nvSpPr>
          <p:cNvPr id="102" name="Text 100"/>
          <p:cNvSpPr/>
          <p:nvPr/>
        </p:nvSpPr>
        <p:spPr>
          <a:xfrm>
            <a:off x="22498812" y="21625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2200" dirty="0"/>
          </a:p>
        </p:txBody>
      </p:sp>
      <p:sp>
        <p:nvSpPr>
          <p:cNvPr id="103" name="Text 101"/>
          <p:cNvSpPr/>
          <p:nvPr/>
        </p:nvSpPr>
        <p:spPr>
          <a:xfrm>
            <a:off x="24510492" y="21625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2200" dirty="0"/>
          </a:p>
        </p:txBody>
      </p:sp>
      <p:sp>
        <p:nvSpPr>
          <p:cNvPr id="104" name="Text 102"/>
          <p:cNvSpPr/>
          <p:nvPr/>
        </p:nvSpPr>
        <p:spPr>
          <a:xfrm>
            <a:off x="26522172" y="21625560"/>
            <a:ext cx="28392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±1RPE 以内</a:t>
            </a:r>
            <a:endParaRPr lang="en-US" sz="2200" dirty="0"/>
          </a:p>
        </p:txBody>
      </p:sp>
      <p:sp>
        <p:nvSpPr>
          <p:cNvPr id="105" name="Shape 103"/>
          <p:cNvSpPr/>
          <p:nvPr/>
        </p:nvSpPr>
        <p:spPr>
          <a:xfrm>
            <a:off x="15640812" y="2221992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640812" y="22219920"/>
            <a:ext cx="68580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(VBT準拠ベースライン)</a:t>
            </a:r>
            <a:endParaRPr lang="en-US" sz="2100" dirty="0"/>
          </a:p>
        </p:txBody>
      </p:sp>
      <p:sp>
        <p:nvSpPr>
          <p:cNvPr id="107" name="Text 105"/>
          <p:cNvSpPr/>
          <p:nvPr/>
        </p:nvSpPr>
        <p:spPr>
          <a:xfrm>
            <a:off x="22498812" y="22219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</a:t>
            </a:r>
            <a:endParaRPr lang="en-US" sz="2100" dirty="0"/>
          </a:p>
        </p:txBody>
      </p:sp>
      <p:sp>
        <p:nvSpPr>
          <p:cNvPr id="108" name="Text 106"/>
          <p:cNvSpPr/>
          <p:nvPr/>
        </p:nvSpPr>
        <p:spPr>
          <a:xfrm>
            <a:off x="24510492" y="22219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</a:t>
            </a:r>
            <a:endParaRPr lang="en-US" sz="2100" dirty="0"/>
          </a:p>
        </p:txBody>
      </p:sp>
      <p:sp>
        <p:nvSpPr>
          <p:cNvPr id="109" name="Text 107"/>
          <p:cNvSpPr/>
          <p:nvPr/>
        </p:nvSpPr>
        <p:spPr>
          <a:xfrm>
            <a:off x="26522172" y="22219920"/>
            <a:ext cx="283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95.2%</a:t>
            </a:r>
            <a:endParaRPr lang="en-US" sz="2100" dirty="0"/>
          </a:p>
        </p:txBody>
      </p:sp>
      <p:sp>
        <p:nvSpPr>
          <p:cNvPr id="110" name="Shape 108"/>
          <p:cNvSpPr/>
          <p:nvPr/>
        </p:nvSpPr>
        <p:spPr>
          <a:xfrm>
            <a:off x="15640812" y="2276856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5640812" y="22768560"/>
            <a:ext cx="68580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(24次元)</a:t>
            </a:r>
            <a:endParaRPr lang="en-US" sz="2100" dirty="0"/>
          </a:p>
        </p:txBody>
      </p:sp>
      <p:sp>
        <p:nvSpPr>
          <p:cNvPr id="112" name="Text 110"/>
          <p:cNvSpPr/>
          <p:nvPr/>
        </p:nvSpPr>
        <p:spPr>
          <a:xfrm>
            <a:off x="22498812" y="22768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</a:t>
            </a:r>
            <a:endParaRPr lang="en-US" sz="2100" dirty="0"/>
          </a:p>
        </p:txBody>
      </p:sp>
      <p:sp>
        <p:nvSpPr>
          <p:cNvPr id="113" name="Text 111"/>
          <p:cNvSpPr/>
          <p:nvPr/>
        </p:nvSpPr>
        <p:spPr>
          <a:xfrm>
            <a:off x="24510492" y="22768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endParaRPr lang="en-US" sz="2100" dirty="0"/>
          </a:p>
        </p:txBody>
      </p:sp>
      <p:sp>
        <p:nvSpPr>
          <p:cNvPr id="114" name="Text 112"/>
          <p:cNvSpPr/>
          <p:nvPr/>
        </p:nvSpPr>
        <p:spPr>
          <a:xfrm>
            <a:off x="26522172" y="22768560"/>
            <a:ext cx="283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115" name="Shape 113"/>
          <p:cNvSpPr/>
          <p:nvPr/>
        </p:nvSpPr>
        <p:spPr>
          <a:xfrm>
            <a:off x="15640812" y="2331720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5640812" y="23317200"/>
            <a:ext cx="68580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(24次元)</a:t>
            </a:r>
            <a:endParaRPr lang="en-US" sz="2100" dirty="0"/>
          </a:p>
        </p:txBody>
      </p:sp>
      <p:sp>
        <p:nvSpPr>
          <p:cNvPr id="117" name="Text 115"/>
          <p:cNvSpPr/>
          <p:nvPr/>
        </p:nvSpPr>
        <p:spPr>
          <a:xfrm>
            <a:off x="22498812" y="23317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</a:t>
            </a:r>
            <a:endParaRPr lang="en-US" sz="2100" dirty="0"/>
          </a:p>
        </p:txBody>
      </p:sp>
      <p:sp>
        <p:nvSpPr>
          <p:cNvPr id="118" name="Text 116"/>
          <p:cNvSpPr/>
          <p:nvPr/>
        </p:nvSpPr>
        <p:spPr>
          <a:xfrm>
            <a:off x="24510492" y="23317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</a:t>
            </a:r>
            <a:endParaRPr lang="en-US" sz="2100" dirty="0"/>
          </a:p>
        </p:txBody>
      </p:sp>
      <p:sp>
        <p:nvSpPr>
          <p:cNvPr id="119" name="Text 117"/>
          <p:cNvSpPr/>
          <p:nvPr/>
        </p:nvSpPr>
        <p:spPr>
          <a:xfrm>
            <a:off x="26522172" y="23317200"/>
            <a:ext cx="283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120" name="Shape 118"/>
          <p:cNvSpPr/>
          <p:nvPr/>
        </p:nvSpPr>
        <p:spPr>
          <a:xfrm>
            <a:off x="15366492" y="24597360"/>
            <a:ext cx="14269212" cy="320040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50800">
            <a:solidFill>
              <a:srgbClr val="2A9D8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5732252" y="24780240"/>
            <a:ext cx="135376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現時点までの実装済み成果</a:t>
            </a:r>
            <a:endParaRPr lang="en-US" sz="26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M5StickC + Wi-Fi(UDP) によるリアルタイム IMU 計測系</a:t>
            </a:r>
            <a:endParaRPr lang="en-US" sz="26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MediaPipe / YOLO26 両骨格推定パイプラインと比較評価</a:t>
            </a:r>
            <a:endParaRPr lang="en-US" sz="26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24次元特徴量抽出とベースライン RPE 推定モデル (3種)</a:t>
            </a:r>
            <a:endParaRPr lang="en-US" sz="26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被験者間 LOSO CV 評価フレームワークとメタデータ管理</a:t>
            </a:r>
            <a:endParaRPr lang="en-US" sz="2600" dirty="0"/>
          </a:p>
        </p:txBody>
      </p:sp>
      <p:sp>
        <p:nvSpPr>
          <p:cNvPr id="122" name="Shape 120"/>
          <p:cNvSpPr/>
          <p:nvPr/>
        </p:nvSpPr>
        <p:spPr>
          <a:xfrm>
            <a:off x="15366492" y="27980640"/>
            <a:ext cx="960120" cy="9601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5366492" y="27980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124" name="Text 122"/>
          <p:cNvSpPr/>
          <p:nvPr/>
        </p:nvSpPr>
        <p:spPr>
          <a:xfrm>
            <a:off x="16463772" y="27980640"/>
            <a:ext cx="131719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まとめと今後の課題</a:t>
            </a:r>
            <a:endParaRPr lang="en-US" sz="3600" dirty="0"/>
          </a:p>
        </p:txBody>
      </p:sp>
      <p:sp>
        <p:nvSpPr>
          <p:cNvPr id="125" name="Shape 123"/>
          <p:cNvSpPr/>
          <p:nvPr/>
        </p:nvSpPr>
        <p:spPr>
          <a:xfrm>
            <a:off x="15366492" y="29077920"/>
            <a:ext cx="14269212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5366492" y="29352240"/>
            <a:ext cx="14269212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・バー IMU と骨格推定を統合するマルチモーダル RPE 推定システムを設計・実装した。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・単眼側面視動画において、MediaPipe Pose はバーベル遮蔽下で検出失敗率32%と実用困難だったが、YOLO26 Pose への置換で6%まで低減した (▼26pt)。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・合成データを用いたパイプライン検証で、Gradient Boosting モデルが MAE=0.18, ±1RPE以内100%を達成 (被験者間 LOSO CV)。</a:t>
            </a:r>
            <a:endParaRPr lang="en-US" sz="2400" dirty="0"/>
          </a:p>
        </p:txBody>
      </p:sp>
      <p:sp>
        <p:nvSpPr>
          <p:cNvPr id="127" name="Text 125"/>
          <p:cNvSpPr/>
          <p:nvPr/>
        </p:nvSpPr>
        <p:spPr>
          <a:xfrm>
            <a:off x="15366492" y="33192720"/>
            <a:ext cx="14269212" cy="4572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今後の課題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実被験者データの収集 (N=10-15を目標、倫理審査申請中)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撮影角度の最適化 (真横 vs 斜め45度の比較検証)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IMU と動画の高精度時刻同期 (LEDフラッシュ法の実装)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Mean Propulsive Velocity (MPV) 等の追加特徴量による精度改善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アブレーション研究 (IMU only vs Pose only vs 統合)</a:t>
            </a:r>
            <a:endParaRPr lang="en-US" sz="24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実運用を想定したリアルタイム推論・エッジ実装への発展</a:t>
            </a:r>
            <a:endParaRPr lang="en-US" sz="2400" dirty="0"/>
          </a:p>
        </p:txBody>
      </p:sp>
      <p:sp>
        <p:nvSpPr>
          <p:cNvPr id="128" name="Shape 126"/>
          <p:cNvSpPr/>
          <p:nvPr/>
        </p:nvSpPr>
        <p:spPr>
          <a:xfrm>
            <a:off x="0" y="41431464"/>
            <a:ext cx="30275784" cy="137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57200" y="41568624"/>
            <a:ext cx="29361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主要参考文献: 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González-Badillo &amp; Sánchez-Medina (2010) Int J Sports Med. | Zourdos et al. (2016) J Strength Cond Res. |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Bazarevsky et al. (2020) BlazePose, arXiv. | Ultralytics YOLO26 (2026) arXiv:2606.03748.</a:t>
            </a:r>
            <a:endParaRPr lang="en-US" sz="1700" dirty="0"/>
          </a:p>
        </p:txBody>
      </p:sp>
      <p:sp>
        <p:nvSpPr>
          <p:cNvPr id="130" name="Shape 128"/>
          <p:cNvSpPr/>
          <p:nvPr/>
        </p:nvSpPr>
        <p:spPr>
          <a:xfrm>
            <a:off x="640080" y="30678120"/>
            <a:ext cx="14269212" cy="4114800"/>
          </a:xfrm>
          <a:prstGeom prst="roundRect">
            <a:avLst>
              <a:gd name="adj" fmla="val 4444"/>
            </a:avLst>
          </a:prstGeom>
          <a:solidFill>
            <a:srgbClr val="F0F4F8"/>
          </a:solidFill>
          <a:ln w="50800">
            <a:solidFill>
              <a:srgbClr val="1C729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14400" y="30861000"/>
            <a:ext cx="1372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抽出される主要特徴量 (計24次元)</a:t>
            </a:r>
            <a:endParaRPr lang="en-US" sz="2600" dirty="0"/>
          </a:p>
        </p:txBody>
      </p:sp>
      <p:sp>
        <p:nvSpPr>
          <p:cNvPr id="132" name="Text 130"/>
          <p:cNvSpPr/>
          <p:nvPr/>
        </p:nvSpPr>
        <p:spPr>
          <a:xfrm>
            <a:off x="960120" y="31592520"/>
            <a:ext cx="676884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由来 (19次元)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・Mean Propulsive Velocity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・ピーク速度 / 平均速度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・速度低下率 (Velocity Loss)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・RMS 加速度・ピーク加速度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・Jerk (最大・平均)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・コンセントリック時間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・バーの roll/pitch 変動幅</a:t>
            </a:r>
            <a:endParaRPr lang="en-US" sz="2200" dirty="0"/>
          </a:p>
        </p:txBody>
      </p:sp>
      <p:sp>
        <p:nvSpPr>
          <p:cNvPr id="133" name="Text 131"/>
          <p:cNvSpPr/>
          <p:nvPr/>
        </p:nvSpPr>
        <p:spPr>
          <a:xfrm>
            <a:off x="7820406" y="31592520"/>
            <a:ext cx="676884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由来 (5次元)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・検出成功率 (n_valid/n_total)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・key_visibility 平均・最小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・NaN 率</a:t>
            </a:r>
            <a:endParaRPr lang="en-US" sz="22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・n_frames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深さ・関節角度特徴量は</a:t>
            </a:r>
            <a:endParaRPr lang="en-US" sz="2200" dirty="0"/>
          </a:p>
          <a:p>
            <a:pPr indent="0" marL="0">
              <a:buNone/>
            </a:pPr>
            <a:r>
              <a:rPr lang="en-US" sz="1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今後追加予定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2026-07-22T08:09:48Z</dcterms:created>
  <dcterms:modified xsi:type="dcterms:W3CDTF">2026-07-22T08:09:48Z</dcterms:modified>
</cp:coreProperties>
</file>