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0275784" cy="42803064"/>
  <p:notesSz cx="42803064" cy="3027578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275784" cy="45720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2936138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レジスタンストレーニングにおける単眼動画の骨格推定と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バーベル挙上速度を用いたRPE推定とその妥当性検証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29361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東京都立大学 システムデザイン研究科 情報科学域 横山研究室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3794760"/>
            <a:ext cx="29361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Mamada     (指導教員: Prof. Shohei Yokoyama)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512064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120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1691640" y="5120640"/>
            <a:ext cx="132176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研究背景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40080" y="6172200"/>
            <a:ext cx="14269212" cy="0"/>
          </a:xfrm>
          <a:prstGeom prst="line">
            <a:avLst/>
          </a:prstGeom>
          <a:noFill/>
          <a:ln w="508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6492240"/>
            <a:ext cx="14269212" cy="96012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パワーリフティングにおける RPE (Rating of Perceived Exertion)</a:t>
            </a:r>
            <a:endParaRPr lang="en-US" sz="25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自身の主観的運動強度を「あと何レップ余力があるか (RIR)」で申告する評価法。Zourdos et al. (2016) により提案され、競技現場で広く用いられている。</a:t>
            </a:r>
            <a:endParaRPr lang="en-US" sz="25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既存手法の限界</a:t>
            </a:r>
            <a:endParaRPr lang="en-US" sz="25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RPEは主観的で個人差・経験差が大きく、初心者ほど精度が低い。</a:t>
            </a:r>
            <a:endParaRPr lang="en-US" sz="25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速度ベーストレーニング (VBT) はバーの速度から客観的に負荷を推定するが、フォーム崩れなどの質的変化を捉えられない。</a:t>
            </a:r>
            <a:endParaRPr lang="en-US" sz="25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単一モダリティ (IMUのみ or 動画のみ) では情報が不完全。</a:t>
            </a:r>
            <a:endParaRPr lang="en-US" sz="25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本研究の狙い</a:t>
            </a:r>
            <a:endParaRPr lang="en-US" sz="25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バー装着IMUによる挙上速度と、単眼動画からの骨格推定を統合し、客観的センサ情報からRPEを推定するマルチモーダル手法を提案・妥当性検証する。VBT単独より高い精度、および従来にはないフォーム観点の情報を取り込むことを目指す。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40080" y="16276320"/>
            <a:ext cx="14269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表1: パワーリフティング RPE スケール (Zourdos, 2016)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914400" y="16916400"/>
            <a:ext cx="13720572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691640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60320" y="16916400"/>
            <a:ext cx="120746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意味 (RIR: あと何レップ余力があるか)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914400" y="17510760"/>
            <a:ext cx="137205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7510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2697480" y="17510760"/>
            <a:ext cx="119374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1RM。これ以上1レップも不可能 (RIR=0)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4400" y="18059400"/>
            <a:ext cx="13720572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18059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2697480" y="18059400"/>
            <a:ext cx="119374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1レップの余力あり、ただしフォーム崩れ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14400" y="18608040"/>
            <a:ext cx="137205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186080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2697480" y="18608040"/>
            <a:ext cx="119374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あと1レップの余力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914400" y="19156680"/>
            <a:ext cx="13720572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19156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2697480" y="19156680"/>
            <a:ext cx="119374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あと2レップの余力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14400" y="19705320"/>
            <a:ext cx="137205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19705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2697480" y="19705320"/>
            <a:ext cx="119374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あと3レップの余力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14400" y="20253960"/>
            <a:ext cx="13720572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202539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2697480" y="20253960"/>
            <a:ext cx="119374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あと4〜6レップの余力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640080" y="2153412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21534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800" dirty="0"/>
          </a:p>
        </p:txBody>
      </p:sp>
      <p:sp>
        <p:nvSpPr>
          <p:cNvPr id="35" name="Text 33"/>
          <p:cNvSpPr/>
          <p:nvPr/>
        </p:nvSpPr>
        <p:spPr>
          <a:xfrm>
            <a:off x="1691640" y="21534120"/>
            <a:ext cx="132176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提案手法</a:t>
            </a:r>
            <a:endParaRPr lang="en-US" sz="3400" dirty="0"/>
          </a:p>
        </p:txBody>
      </p:sp>
      <p:sp>
        <p:nvSpPr>
          <p:cNvPr id="36" name="Shape 34"/>
          <p:cNvSpPr/>
          <p:nvPr/>
        </p:nvSpPr>
        <p:spPr>
          <a:xfrm>
            <a:off x="640080" y="22585680"/>
            <a:ext cx="14269212" cy="0"/>
          </a:xfrm>
          <a:prstGeom prst="line">
            <a:avLst/>
          </a:prstGeom>
          <a:noFill/>
          <a:ln w="508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22905720"/>
            <a:ext cx="14269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システム全体構成</a:t>
            </a:r>
            <a:endParaRPr lang="en-US" sz="2600" dirty="0"/>
          </a:p>
        </p:txBody>
      </p:sp>
      <p:sp>
        <p:nvSpPr>
          <p:cNvPr id="38" name="Shape 36"/>
          <p:cNvSpPr/>
          <p:nvPr/>
        </p:nvSpPr>
        <p:spPr>
          <a:xfrm>
            <a:off x="640080" y="23545800"/>
            <a:ext cx="4573524" cy="2286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23682960"/>
            <a:ext cx="45735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バー装着 IMU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31520" y="24323040"/>
            <a:ext cx="43906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M5StickC Plus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加速度3軸 + ジャイロ3軸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Wi-Fi (UDP) @ 100Hz</a:t>
            </a:r>
            <a:endParaRPr lang="en-US" sz="1900" dirty="0"/>
          </a:p>
        </p:txBody>
      </p:sp>
      <p:sp>
        <p:nvSpPr>
          <p:cNvPr id="41" name="Shape 39"/>
          <p:cNvSpPr/>
          <p:nvPr/>
        </p:nvSpPr>
        <p:spPr>
          <a:xfrm>
            <a:off x="5487924" y="23545800"/>
            <a:ext cx="4573524" cy="2286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7924" y="23682960"/>
            <a:ext cx="45735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側面カメラ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579364" y="24323040"/>
            <a:ext cx="43906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スマートフォン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単眼動画 @ 60fps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フルHD以上</a:t>
            </a:r>
            <a:endParaRPr lang="en-US" sz="1900" dirty="0"/>
          </a:p>
        </p:txBody>
      </p:sp>
      <p:sp>
        <p:nvSpPr>
          <p:cNvPr id="44" name="Shape 42"/>
          <p:cNvSpPr/>
          <p:nvPr/>
        </p:nvSpPr>
        <p:spPr>
          <a:xfrm>
            <a:off x="10335768" y="23545800"/>
            <a:ext cx="4573524" cy="2286000"/>
          </a:xfrm>
          <a:prstGeom prst="roundRect">
            <a:avLst>
              <a:gd name="adj" fmla="val 6000"/>
            </a:avLst>
          </a:prstGeom>
          <a:solidFill>
            <a:srgbClr val="F0F4F8"/>
          </a:solidFill>
          <a:ln w="38100">
            <a:solidFill>
              <a:srgbClr val="065A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335768" y="23682960"/>
            <a:ext cx="45735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PC 受信・解析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0427208" y="24323040"/>
            <a:ext cx="43906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リアルタイム受信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特徴量抽出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RPE 推定モデル</a:t>
            </a:r>
            <a:endParaRPr lang="en-US" sz="1900" dirty="0"/>
          </a:p>
        </p:txBody>
      </p:sp>
      <p:sp>
        <p:nvSpPr>
          <p:cNvPr id="47" name="Shape 45"/>
          <p:cNvSpPr/>
          <p:nvPr/>
        </p:nvSpPr>
        <p:spPr>
          <a:xfrm>
            <a:off x="5259324" y="24551640"/>
            <a:ext cx="228600" cy="274320"/>
          </a:xfrm>
          <a:prstGeom prst="rightTriangl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107168" y="24551640"/>
            <a:ext cx="228600" cy="274320"/>
          </a:xfrm>
          <a:prstGeom prst="rightTriangl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26380440"/>
            <a:ext cx="14269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処理パイプライン</a:t>
            </a:r>
            <a:endParaRPr lang="en-US" sz="2600" dirty="0"/>
          </a:p>
        </p:txBody>
      </p:sp>
      <p:sp>
        <p:nvSpPr>
          <p:cNvPr id="50" name="Shape 48"/>
          <p:cNvSpPr/>
          <p:nvPr/>
        </p:nvSpPr>
        <p:spPr>
          <a:xfrm>
            <a:off x="640080" y="27294840"/>
            <a:ext cx="914400" cy="9144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272948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3000" dirty="0"/>
          </a:p>
        </p:txBody>
      </p:sp>
      <p:sp>
        <p:nvSpPr>
          <p:cNvPr id="52" name="Text 50"/>
          <p:cNvSpPr/>
          <p:nvPr/>
        </p:nvSpPr>
        <p:spPr>
          <a:xfrm>
            <a:off x="1737360" y="27020520"/>
            <a:ext cx="13171932" cy="1463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 特徴量抽出</a:t>
            </a:r>
            <a:endParaRPr lang="en-US" sz="23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鉛直加速度 az を積分して速度を推定。MPV, ピーク速度,</a:t>
            </a:r>
            <a:endParaRPr lang="en-US" sz="23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RMS, Jerk, 速度低下率 (Velocity Loss) など全19次元。</a:t>
            </a:r>
            <a:endParaRPr lang="en-US" sz="2300" dirty="0"/>
          </a:p>
        </p:txBody>
      </p:sp>
      <p:sp>
        <p:nvSpPr>
          <p:cNvPr id="53" name="Shape 51"/>
          <p:cNvSpPr/>
          <p:nvPr/>
        </p:nvSpPr>
        <p:spPr>
          <a:xfrm>
            <a:off x="640080" y="28940760"/>
            <a:ext cx="914400" cy="9144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28940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3000" dirty="0"/>
          </a:p>
        </p:txBody>
      </p:sp>
      <p:sp>
        <p:nvSpPr>
          <p:cNvPr id="55" name="Text 53"/>
          <p:cNvSpPr/>
          <p:nvPr/>
        </p:nvSpPr>
        <p:spPr>
          <a:xfrm>
            <a:off x="1737360" y="28666440"/>
            <a:ext cx="13171932" cy="1463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骨格推定 (2手法を比較)</a:t>
            </a:r>
            <a:endParaRPr lang="en-US" sz="23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MediaPipe Pose (33点) : 高速・軽量、しかし遮蔽に脆弱</a:t>
            </a:r>
            <a:endParaRPr lang="en-US" sz="23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YOLO26 Pose (17点) : 遮蔽下で頑健、SOTA (2026年1月)</a:t>
            </a:r>
            <a:endParaRPr lang="en-US" sz="2300" dirty="0"/>
          </a:p>
        </p:txBody>
      </p:sp>
      <p:sp>
        <p:nvSpPr>
          <p:cNvPr id="56" name="Shape 54"/>
          <p:cNvSpPr/>
          <p:nvPr/>
        </p:nvSpPr>
        <p:spPr>
          <a:xfrm>
            <a:off x="640080" y="30586680"/>
            <a:ext cx="914400" cy="9144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40080" y="305866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3000" dirty="0"/>
          </a:p>
        </p:txBody>
      </p:sp>
      <p:sp>
        <p:nvSpPr>
          <p:cNvPr id="58" name="Text 56"/>
          <p:cNvSpPr/>
          <p:nvPr/>
        </p:nvSpPr>
        <p:spPr>
          <a:xfrm>
            <a:off x="1737360" y="30312360"/>
            <a:ext cx="13171932" cy="1463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特徴量ベクトル構築</a:t>
            </a:r>
            <a:endParaRPr lang="en-US" sz="23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IMU 19次元 + Pose 5次元 = 24次元の試技特徴量ベクトル。</a:t>
            </a:r>
            <a:endParaRPr lang="en-US" sz="23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メタデータ (重量, レップ数, RPEラベル) と紐付けて保存。</a:t>
            </a:r>
            <a:endParaRPr lang="en-US" sz="2300" dirty="0"/>
          </a:p>
        </p:txBody>
      </p:sp>
      <p:sp>
        <p:nvSpPr>
          <p:cNvPr id="59" name="Shape 57"/>
          <p:cNvSpPr/>
          <p:nvPr/>
        </p:nvSpPr>
        <p:spPr>
          <a:xfrm>
            <a:off x="640080" y="32232600"/>
            <a:ext cx="914400" cy="9144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0080" y="32232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3000" dirty="0"/>
          </a:p>
        </p:txBody>
      </p:sp>
      <p:sp>
        <p:nvSpPr>
          <p:cNvPr id="61" name="Text 59"/>
          <p:cNvSpPr/>
          <p:nvPr/>
        </p:nvSpPr>
        <p:spPr>
          <a:xfrm>
            <a:off x="1737360" y="31958280"/>
            <a:ext cx="13171932" cy="14630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RPE 推定モデル</a:t>
            </a:r>
            <a:endParaRPr lang="en-US" sz="23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Linear (VBT準拠ベースライン) ② Random Forest ③ Gradient Boosting</a:t>
            </a:r>
            <a:endParaRPr lang="en-US" sz="2300" dirty="0"/>
          </a:p>
          <a:p>
            <a:pPr indent="0" marL="0">
              <a:buNone/>
            </a:pPr>
            <a:r>
              <a:rPr lang="en-US" sz="19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評価: 被験者間 Leave-One-Subject-Out クロスバリデーション</a:t>
            </a:r>
            <a:endParaRPr lang="en-US" sz="2300" dirty="0"/>
          </a:p>
        </p:txBody>
      </p:sp>
      <p:sp>
        <p:nvSpPr>
          <p:cNvPr id="62" name="Shape 60"/>
          <p:cNvSpPr/>
          <p:nvPr/>
        </p:nvSpPr>
        <p:spPr>
          <a:xfrm>
            <a:off x="15366492" y="512064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5366492" y="51206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800" dirty="0"/>
          </a:p>
        </p:txBody>
      </p:sp>
      <p:sp>
        <p:nvSpPr>
          <p:cNvPr id="64" name="Text 62"/>
          <p:cNvSpPr/>
          <p:nvPr/>
        </p:nvSpPr>
        <p:spPr>
          <a:xfrm>
            <a:off x="16418052" y="5120640"/>
            <a:ext cx="132176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実験</a:t>
            </a:r>
            <a:endParaRPr lang="en-US" sz="3400" dirty="0"/>
          </a:p>
        </p:txBody>
      </p:sp>
      <p:sp>
        <p:nvSpPr>
          <p:cNvPr id="65" name="Shape 63"/>
          <p:cNvSpPr/>
          <p:nvPr/>
        </p:nvSpPr>
        <p:spPr>
          <a:xfrm>
            <a:off x="15366492" y="6172200"/>
            <a:ext cx="14269212" cy="0"/>
          </a:xfrm>
          <a:prstGeom prst="line">
            <a:avLst/>
          </a:prstGeom>
          <a:noFill/>
          <a:ln w="50800">
            <a:solidFill>
              <a:srgbClr val="065A82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5366492" y="6492240"/>
            <a:ext cx="14269212" cy="86868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実験環境</a:t>
            </a:r>
            <a:endParaRPr lang="en-US" sz="25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・種目: バックスクワット (60〜95% 1RM)</a:t>
            </a:r>
            <a:endParaRPr lang="en-US" sz="25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・IMU: M5StickC Plus (MPU6886内蔵、バーシャフト中央固定)</a:t>
            </a:r>
            <a:endParaRPr lang="en-US" sz="25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・カメラ: iPhone (側面視、60fps、フルHD)</a:t>
            </a:r>
            <a:endParaRPr lang="en-US" sz="25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・通信: Wi-Fi (UDP) 100Hz サンプリング</a:t>
            </a:r>
            <a:endParaRPr lang="en-US" sz="25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実験プロトコル (先行研究 González-Badillo, 2010 に準拠)</a:t>
            </a:r>
            <a:endParaRPr lang="en-US" sz="25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ウォームアップ後、段階的負荷 (60/70/80/90/95% 1RM)。</a:t>
            </a:r>
            <a:endParaRPr lang="en-US" sz="25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各セットを全力挙上、セット後15秒以内にRPEを聴取。</a:t>
            </a:r>
            <a:endParaRPr lang="en-US" sz="25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IMU と動画を同期記録、CSV と MP4 で保存。</a:t>
            </a:r>
            <a:endParaRPr lang="en-US" sz="25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評価指標</a:t>
            </a:r>
            <a:endParaRPr lang="en-US" sz="25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MAE, RMSE, ±1RPE以内ヒット率 (先行研究比較値: 93%)。</a:t>
            </a:r>
            <a:endParaRPr lang="en-US" sz="25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検証戦略: 被験者間 Leave-One-Subject-Out クロスバリデーション。</a:t>
            </a:r>
            <a:endParaRPr lang="en-US" sz="2500" dirty="0"/>
          </a:p>
        </p:txBody>
      </p:sp>
      <p:sp>
        <p:nvSpPr>
          <p:cNvPr id="67" name="Shape 65"/>
          <p:cNvSpPr/>
          <p:nvPr/>
        </p:nvSpPr>
        <p:spPr>
          <a:xfrm>
            <a:off x="15366492" y="1536192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5366492" y="153619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800" dirty="0"/>
          </a:p>
        </p:txBody>
      </p:sp>
      <p:sp>
        <p:nvSpPr>
          <p:cNvPr id="69" name="Text 67"/>
          <p:cNvSpPr/>
          <p:nvPr/>
        </p:nvSpPr>
        <p:spPr>
          <a:xfrm>
            <a:off x="16418052" y="15361920"/>
            <a:ext cx="132176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結果 (中間報告)</a:t>
            </a:r>
            <a:endParaRPr lang="en-US" sz="3400" dirty="0"/>
          </a:p>
        </p:txBody>
      </p:sp>
      <p:sp>
        <p:nvSpPr>
          <p:cNvPr id="70" name="Shape 68"/>
          <p:cNvSpPr/>
          <p:nvPr/>
        </p:nvSpPr>
        <p:spPr>
          <a:xfrm>
            <a:off x="15366492" y="16413480"/>
            <a:ext cx="14269212" cy="0"/>
          </a:xfrm>
          <a:prstGeom prst="line">
            <a:avLst/>
          </a:prstGeom>
          <a:noFill/>
          <a:ln w="50800">
            <a:solidFill>
              <a:srgbClr val="065A8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5366492" y="16733520"/>
            <a:ext cx="14269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骨格推定モデルの比較 (side-view 動画)</a:t>
            </a:r>
            <a:endParaRPr lang="en-US" sz="2500" dirty="0"/>
          </a:p>
        </p:txBody>
      </p:sp>
      <p:sp>
        <p:nvSpPr>
          <p:cNvPr id="72" name="Text 70"/>
          <p:cNvSpPr/>
          <p:nvPr/>
        </p:nvSpPr>
        <p:spPr>
          <a:xfrm>
            <a:off x="15366492" y="17327880"/>
            <a:ext cx="14269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MediaPipeはバーベル・セーフティバーの遮蔽で破綻。YOLO26への置換で頑健性が大幅に向上。</a:t>
            </a:r>
            <a:endParaRPr lang="en-US" sz="2000" dirty="0"/>
          </a:p>
        </p:txBody>
      </p:sp>
      <p:sp>
        <p:nvSpPr>
          <p:cNvPr id="73" name="Shape 71"/>
          <p:cNvSpPr/>
          <p:nvPr/>
        </p:nvSpPr>
        <p:spPr>
          <a:xfrm>
            <a:off x="15640812" y="17922240"/>
            <a:ext cx="13720572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5640812" y="1792224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指標</a:t>
            </a:r>
            <a:endParaRPr lang="en-US" sz="2200" dirty="0"/>
          </a:p>
        </p:txBody>
      </p:sp>
      <p:sp>
        <p:nvSpPr>
          <p:cNvPr id="75" name="Text 73"/>
          <p:cNvSpPr/>
          <p:nvPr/>
        </p:nvSpPr>
        <p:spPr>
          <a:xfrm>
            <a:off x="20670012" y="179222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MediaPipe</a:t>
            </a:r>
            <a:endParaRPr lang="en-US" sz="2200" dirty="0"/>
          </a:p>
        </p:txBody>
      </p:sp>
      <p:sp>
        <p:nvSpPr>
          <p:cNvPr id="76" name="Text 74"/>
          <p:cNvSpPr/>
          <p:nvPr/>
        </p:nvSpPr>
        <p:spPr>
          <a:xfrm>
            <a:off x="23413212" y="1792224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YOLO26</a:t>
            </a:r>
            <a:endParaRPr lang="en-US" sz="2200" dirty="0"/>
          </a:p>
        </p:txBody>
      </p:sp>
      <p:sp>
        <p:nvSpPr>
          <p:cNvPr id="77" name="Text 75"/>
          <p:cNvSpPr/>
          <p:nvPr/>
        </p:nvSpPr>
        <p:spPr>
          <a:xfrm>
            <a:off x="26156412" y="17922240"/>
            <a:ext cx="32049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改善</a:t>
            </a:r>
            <a:endParaRPr lang="en-US" sz="2200" dirty="0"/>
          </a:p>
        </p:txBody>
      </p:sp>
      <p:sp>
        <p:nvSpPr>
          <p:cNvPr id="78" name="Shape 76"/>
          <p:cNvSpPr/>
          <p:nvPr/>
        </p:nvSpPr>
        <p:spPr>
          <a:xfrm>
            <a:off x="15640812" y="18516600"/>
            <a:ext cx="137205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5640812" y="18516600"/>
            <a:ext cx="5029200" cy="54864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検出失敗率 (NaN率)</a:t>
            </a:r>
            <a:endParaRPr lang="en-US" sz="2100" dirty="0"/>
          </a:p>
        </p:txBody>
      </p:sp>
      <p:sp>
        <p:nvSpPr>
          <p:cNvPr id="80" name="Text 78"/>
          <p:cNvSpPr/>
          <p:nvPr/>
        </p:nvSpPr>
        <p:spPr>
          <a:xfrm>
            <a:off x="20670012" y="18516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100" dirty="0"/>
          </a:p>
        </p:txBody>
      </p:sp>
      <p:sp>
        <p:nvSpPr>
          <p:cNvPr id="81" name="Text 79"/>
          <p:cNvSpPr/>
          <p:nvPr/>
        </p:nvSpPr>
        <p:spPr>
          <a:xfrm>
            <a:off x="23413212" y="18516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2100" dirty="0"/>
          </a:p>
        </p:txBody>
      </p:sp>
      <p:sp>
        <p:nvSpPr>
          <p:cNvPr id="82" name="Text 80"/>
          <p:cNvSpPr/>
          <p:nvPr/>
        </p:nvSpPr>
        <p:spPr>
          <a:xfrm>
            <a:off x="26156412" y="18516600"/>
            <a:ext cx="32049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▼26pt</a:t>
            </a:r>
            <a:endParaRPr lang="en-US" sz="2100" dirty="0"/>
          </a:p>
        </p:txBody>
      </p:sp>
      <p:sp>
        <p:nvSpPr>
          <p:cNvPr id="83" name="Shape 81"/>
          <p:cNvSpPr/>
          <p:nvPr/>
        </p:nvSpPr>
        <p:spPr>
          <a:xfrm>
            <a:off x="15640812" y="19065240"/>
            <a:ext cx="13720572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5640812" y="19065240"/>
            <a:ext cx="5029200" cy="54864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体幹前傾の異常値率</a:t>
            </a:r>
            <a:endParaRPr lang="en-US" sz="2100" dirty="0"/>
          </a:p>
        </p:txBody>
      </p:sp>
      <p:sp>
        <p:nvSpPr>
          <p:cNvPr id="85" name="Text 83"/>
          <p:cNvSpPr/>
          <p:nvPr/>
        </p:nvSpPr>
        <p:spPr>
          <a:xfrm>
            <a:off x="20670012" y="19065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32%</a:t>
            </a:r>
            <a:endParaRPr lang="en-US" sz="2100" dirty="0"/>
          </a:p>
        </p:txBody>
      </p:sp>
      <p:sp>
        <p:nvSpPr>
          <p:cNvPr id="86" name="Text 84"/>
          <p:cNvSpPr/>
          <p:nvPr/>
        </p:nvSpPr>
        <p:spPr>
          <a:xfrm>
            <a:off x="23413212" y="190652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2100" dirty="0"/>
          </a:p>
        </p:txBody>
      </p:sp>
      <p:sp>
        <p:nvSpPr>
          <p:cNvPr id="87" name="Text 85"/>
          <p:cNvSpPr/>
          <p:nvPr/>
        </p:nvSpPr>
        <p:spPr>
          <a:xfrm>
            <a:off x="26156412" y="19065240"/>
            <a:ext cx="32049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▼29pt</a:t>
            </a:r>
            <a:endParaRPr lang="en-US" sz="2100" dirty="0"/>
          </a:p>
        </p:txBody>
      </p:sp>
      <p:sp>
        <p:nvSpPr>
          <p:cNvPr id="88" name="Shape 86"/>
          <p:cNvSpPr/>
          <p:nvPr/>
        </p:nvSpPr>
        <p:spPr>
          <a:xfrm>
            <a:off x="15640812" y="19613880"/>
            <a:ext cx="137205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5640812" y="19613880"/>
            <a:ext cx="5029200" cy="54864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膝角度の異常値率</a:t>
            </a:r>
            <a:endParaRPr lang="en-US" sz="2100" dirty="0"/>
          </a:p>
        </p:txBody>
      </p:sp>
      <p:sp>
        <p:nvSpPr>
          <p:cNvPr id="90" name="Text 88"/>
          <p:cNvSpPr/>
          <p:nvPr/>
        </p:nvSpPr>
        <p:spPr>
          <a:xfrm>
            <a:off x="20670012" y="19613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19%</a:t>
            </a:r>
            <a:endParaRPr lang="en-US" sz="2100" dirty="0"/>
          </a:p>
        </p:txBody>
      </p:sp>
      <p:sp>
        <p:nvSpPr>
          <p:cNvPr id="91" name="Text 89"/>
          <p:cNvSpPr/>
          <p:nvPr/>
        </p:nvSpPr>
        <p:spPr>
          <a:xfrm>
            <a:off x="23413212" y="196138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2100" dirty="0"/>
          </a:p>
        </p:txBody>
      </p:sp>
      <p:sp>
        <p:nvSpPr>
          <p:cNvPr id="92" name="Text 90"/>
          <p:cNvSpPr/>
          <p:nvPr/>
        </p:nvSpPr>
        <p:spPr>
          <a:xfrm>
            <a:off x="26156412" y="19613880"/>
            <a:ext cx="32049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▼17pt</a:t>
            </a:r>
            <a:endParaRPr lang="en-US" sz="2100" dirty="0"/>
          </a:p>
        </p:txBody>
      </p:sp>
      <p:sp>
        <p:nvSpPr>
          <p:cNvPr id="93" name="Shape 91"/>
          <p:cNvSpPr/>
          <p:nvPr/>
        </p:nvSpPr>
        <p:spPr>
          <a:xfrm>
            <a:off x="15640812" y="20162520"/>
            <a:ext cx="13720572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5640812" y="20162520"/>
            <a:ext cx="5029200" cy="54864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左右非対称の異常値率</a:t>
            </a:r>
            <a:endParaRPr lang="en-US" sz="2100" dirty="0"/>
          </a:p>
        </p:txBody>
      </p:sp>
      <p:sp>
        <p:nvSpPr>
          <p:cNvPr id="95" name="Text 93"/>
          <p:cNvSpPr/>
          <p:nvPr/>
        </p:nvSpPr>
        <p:spPr>
          <a:xfrm>
            <a:off x="20670012" y="20162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2100" dirty="0"/>
          </a:p>
        </p:txBody>
      </p:sp>
      <p:sp>
        <p:nvSpPr>
          <p:cNvPr id="96" name="Text 94"/>
          <p:cNvSpPr/>
          <p:nvPr/>
        </p:nvSpPr>
        <p:spPr>
          <a:xfrm>
            <a:off x="23413212" y="201625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100" dirty="0"/>
          </a:p>
        </p:txBody>
      </p:sp>
      <p:sp>
        <p:nvSpPr>
          <p:cNvPr id="97" name="Text 95"/>
          <p:cNvSpPr/>
          <p:nvPr/>
        </p:nvSpPr>
        <p:spPr>
          <a:xfrm>
            <a:off x="26156412" y="20162520"/>
            <a:ext cx="32049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▼23pt</a:t>
            </a:r>
            <a:endParaRPr lang="en-US" sz="2100" dirty="0"/>
          </a:p>
        </p:txBody>
      </p:sp>
      <p:sp>
        <p:nvSpPr>
          <p:cNvPr id="98" name="Text 96"/>
          <p:cNvSpPr/>
          <p:nvPr/>
        </p:nvSpPr>
        <p:spPr>
          <a:xfrm>
            <a:off x="15366492" y="21351240"/>
            <a:ext cx="14269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RPE 推定モデルの予備検証 (合成データ N=42, 3subjects)</a:t>
            </a:r>
            <a:endParaRPr lang="en-US" sz="2500" dirty="0"/>
          </a:p>
        </p:txBody>
      </p:sp>
      <p:sp>
        <p:nvSpPr>
          <p:cNvPr id="99" name="Text 97"/>
          <p:cNvSpPr/>
          <p:nvPr/>
        </p:nvSpPr>
        <p:spPr>
          <a:xfrm>
            <a:off x="15366492" y="21945600"/>
            <a:ext cx="14269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被験者間 LOSO CV。パイプライン検証のための合成データによる予備結果。</a:t>
            </a:r>
            <a:endParaRPr lang="en-US" sz="2000" dirty="0"/>
          </a:p>
        </p:txBody>
      </p:sp>
      <p:sp>
        <p:nvSpPr>
          <p:cNvPr id="100" name="Shape 98"/>
          <p:cNvSpPr/>
          <p:nvPr/>
        </p:nvSpPr>
        <p:spPr>
          <a:xfrm>
            <a:off x="15640812" y="22539960"/>
            <a:ext cx="13720572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5640812" y="225399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</a:t>
            </a:r>
            <a:endParaRPr lang="en-US" sz="2200" dirty="0"/>
          </a:p>
        </p:txBody>
      </p:sp>
      <p:sp>
        <p:nvSpPr>
          <p:cNvPr id="102" name="Text 100"/>
          <p:cNvSpPr/>
          <p:nvPr/>
        </p:nvSpPr>
        <p:spPr>
          <a:xfrm>
            <a:off x="22498812" y="225399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MAE</a:t>
            </a:r>
            <a:endParaRPr lang="en-US" sz="2200" dirty="0"/>
          </a:p>
        </p:txBody>
      </p:sp>
      <p:sp>
        <p:nvSpPr>
          <p:cNvPr id="103" name="Text 101"/>
          <p:cNvSpPr/>
          <p:nvPr/>
        </p:nvSpPr>
        <p:spPr>
          <a:xfrm>
            <a:off x="24510492" y="2253996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</a:t>
            </a:r>
            <a:endParaRPr lang="en-US" sz="2200" dirty="0"/>
          </a:p>
        </p:txBody>
      </p:sp>
      <p:sp>
        <p:nvSpPr>
          <p:cNvPr id="104" name="Text 102"/>
          <p:cNvSpPr/>
          <p:nvPr/>
        </p:nvSpPr>
        <p:spPr>
          <a:xfrm>
            <a:off x="26522172" y="22539960"/>
            <a:ext cx="28392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±1RPE 以内</a:t>
            </a:r>
            <a:endParaRPr lang="en-US" sz="2200" dirty="0"/>
          </a:p>
        </p:txBody>
      </p:sp>
      <p:sp>
        <p:nvSpPr>
          <p:cNvPr id="105" name="Shape 103"/>
          <p:cNvSpPr/>
          <p:nvPr/>
        </p:nvSpPr>
        <p:spPr>
          <a:xfrm>
            <a:off x="15640812" y="23134320"/>
            <a:ext cx="137205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15640812" y="23134320"/>
            <a:ext cx="6858000" cy="54864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(VBT準拠ベースライン)</a:t>
            </a:r>
            <a:endParaRPr lang="en-US" sz="2100" dirty="0"/>
          </a:p>
        </p:txBody>
      </p:sp>
      <p:sp>
        <p:nvSpPr>
          <p:cNvPr id="107" name="Text 105"/>
          <p:cNvSpPr/>
          <p:nvPr/>
        </p:nvSpPr>
        <p:spPr>
          <a:xfrm>
            <a:off x="22498812" y="23134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0.47</a:t>
            </a:r>
            <a:endParaRPr lang="en-US" sz="2100" dirty="0"/>
          </a:p>
        </p:txBody>
      </p:sp>
      <p:sp>
        <p:nvSpPr>
          <p:cNvPr id="108" name="Text 106"/>
          <p:cNvSpPr/>
          <p:nvPr/>
        </p:nvSpPr>
        <p:spPr>
          <a:xfrm>
            <a:off x="24510492" y="23134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0.57</a:t>
            </a:r>
            <a:endParaRPr lang="en-US" sz="2100" dirty="0"/>
          </a:p>
        </p:txBody>
      </p:sp>
      <p:sp>
        <p:nvSpPr>
          <p:cNvPr id="109" name="Text 107"/>
          <p:cNvSpPr/>
          <p:nvPr/>
        </p:nvSpPr>
        <p:spPr>
          <a:xfrm>
            <a:off x="26522172" y="23134320"/>
            <a:ext cx="2839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95.2%</a:t>
            </a:r>
            <a:endParaRPr lang="en-US" sz="2100" dirty="0"/>
          </a:p>
        </p:txBody>
      </p:sp>
      <p:sp>
        <p:nvSpPr>
          <p:cNvPr id="110" name="Shape 108"/>
          <p:cNvSpPr/>
          <p:nvPr/>
        </p:nvSpPr>
        <p:spPr>
          <a:xfrm>
            <a:off x="15640812" y="23682960"/>
            <a:ext cx="13720572" cy="548640"/>
          </a:xfrm>
          <a:prstGeom prst="rect">
            <a:avLst/>
          </a:prstGeom>
          <a:solidFill>
            <a:srgbClr val="F0F4F8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5640812" y="23682960"/>
            <a:ext cx="6858000" cy="54864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(24次元)</a:t>
            </a:r>
            <a:endParaRPr lang="en-US" sz="2100" dirty="0"/>
          </a:p>
        </p:txBody>
      </p:sp>
      <p:sp>
        <p:nvSpPr>
          <p:cNvPr id="112" name="Text 110"/>
          <p:cNvSpPr/>
          <p:nvPr/>
        </p:nvSpPr>
        <p:spPr>
          <a:xfrm>
            <a:off x="22498812" y="23682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0.23</a:t>
            </a:r>
            <a:endParaRPr lang="en-US" sz="2100" dirty="0"/>
          </a:p>
        </p:txBody>
      </p:sp>
      <p:sp>
        <p:nvSpPr>
          <p:cNvPr id="113" name="Text 111"/>
          <p:cNvSpPr/>
          <p:nvPr/>
        </p:nvSpPr>
        <p:spPr>
          <a:xfrm>
            <a:off x="24510492" y="23682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0.28</a:t>
            </a:r>
            <a:endParaRPr lang="en-US" sz="2100" dirty="0"/>
          </a:p>
        </p:txBody>
      </p:sp>
      <p:sp>
        <p:nvSpPr>
          <p:cNvPr id="114" name="Text 112"/>
          <p:cNvSpPr/>
          <p:nvPr/>
        </p:nvSpPr>
        <p:spPr>
          <a:xfrm>
            <a:off x="26522172" y="23682960"/>
            <a:ext cx="2839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100" dirty="0"/>
          </a:p>
        </p:txBody>
      </p:sp>
      <p:sp>
        <p:nvSpPr>
          <p:cNvPr id="115" name="Shape 113"/>
          <p:cNvSpPr/>
          <p:nvPr/>
        </p:nvSpPr>
        <p:spPr>
          <a:xfrm>
            <a:off x="15640812" y="24231600"/>
            <a:ext cx="1372057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5DE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5640812" y="24231600"/>
            <a:ext cx="6858000" cy="548640"/>
          </a:xfrm>
          <a:prstGeom prst="rect">
            <a:avLst/>
          </a:prstGeom>
          <a:noFill/>
          <a:ln/>
        </p:spPr>
        <p:txBody>
          <a:bodyPr wrap="square" lIns="190500" tIns="190500" rIns="190500" bIns="19050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 (24次元)</a:t>
            </a:r>
            <a:endParaRPr lang="en-US" sz="2100" dirty="0"/>
          </a:p>
        </p:txBody>
      </p:sp>
      <p:sp>
        <p:nvSpPr>
          <p:cNvPr id="117" name="Text 115"/>
          <p:cNvSpPr/>
          <p:nvPr/>
        </p:nvSpPr>
        <p:spPr>
          <a:xfrm>
            <a:off x="22498812" y="24231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0.18</a:t>
            </a:r>
            <a:endParaRPr lang="en-US" sz="2100" dirty="0"/>
          </a:p>
        </p:txBody>
      </p:sp>
      <p:sp>
        <p:nvSpPr>
          <p:cNvPr id="118" name="Text 116"/>
          <p:cNvSpPr/>
          <p:nvPr/>
        </p:nvSpPr>
        <p:spPr>
          <a:xfrm>
            <a:off x="24510492" y="24231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0.23</a:t>
            </a:r>
            <a:endParaRPr lang="en-US" sz="2100" dirty="0"/>
          </a:p>
        </p:txBody>
      </p:sp>
      <p:sp>
        <p:nvSpPr>
          <p:cNvPr id="119" name="Text 117"/>
          <p:cNvSpPr/>
          <p:nvPr/>
        </p:nvSpPr>
        <p:spPr>
          <a:xfrm>
            <a:off x="26522172" y="24231600"/>
            <a:ext cx="28392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100" dirty="0"/>
          </a:p>
        </p:txBody>
      </p:sp>
      <p:sp>
        <p:nvSpPr>
          <p:cNvPr id="120" name="Shape 118"/>
          <p:cNvSpPr/>
          <p:nvPr/>
        </p:nvSpPr>
        <p:spPr>
          <a:xfrm>
            <a:off x="15366492" y="25511760"/>
            <a:ext cx="14269212" cy="2926080"/>
          </a:xfrm>
          <a:prstGeom prst="roundRect">
            <a:avLst>
              <a:gd name="adj" fmla="val 6250"/>
            </a:avLst>
          </a:prstGeom>
          <a:solidFill>
            <a:srgbClr val="F0F4F8"/>
          </a:solidFill>
          <a:ln w="50800">
            <a:solidFill>
              <a:srgbClr val="2A9D8F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5732252" y="25694640"/>
            <a:ext cx="1353769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9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現時点までの実装済み成果</a:t>
            </a:r>
            <a:endParaRPr lang="en-US" sz="25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M5StickC + Wi-Fi(UDP) によるリアルタイム IMU 計測系</a:t>
            </a:r>
            <a:endParaRPr lang="en-US" sz="25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MediaPipe / YOLO26 両骨格推定パイプラインとその比較評価</a:t>
            </a:r>
            <a:endParaRPr lang="en-US" sz="25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24次元特徴量抽出とベースライン RPE 推定モデル (3種)</a:t>
            </a:r>
            <a:endParaRPr lang="en-US" sz="2500" dirty="0"/>
          </a:p>
          <a:p>
            <a:pPr indent="0" marL="0">
              <a:buNone/>
            </a:pPr>
            <a:r>
              <a:rPr lang="en-US" sz="21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被験者間 LOSO CV 評価フレームワークとメタデータ管理</a:t>
            </a:r>
            <a:endParaRPr lang="en-US" sz="2500" dirty="0"/>
          </a:p>
        </p:txBody>
      </p:sp>
      <p:sp>
        <p:nvSpPr>
          <p:cNvPr id="122" name="Shape 120"/>
          <p:cNvSpPr/>
          <p:nvPr/>
        </p:nvSpPr>
        <p:spPr>
          <a:xfrm>
            <a:off x="15366492" y="28620720"/>
            <a:ext cx="914400" cy="9144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5366492" y="28620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800" dirty="0"/>
          </a:p>
        </p:txBody>
      </p:sp>
      <p:sp>
        <p:nvSpPr>
          <p:cNvPr id="124" name="Text 122"/>
          <p:cNvSpPr/>
          <p:nvPr/>
        </p:nvSpPr>
        <p:spPr>
          <a:xfrm>
            <a:off x="16418052" y="28620720"/>
            <a:ext cx="132176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まとめと今後の課題</a:t>
            </a:r>
            <a:endParaRPr lang="en-US" sz="3400" dirty="0"/>
          </a:p>
        </p:txBody>
      </p:sp>
      <p:sp>
        <p:nvSpPr>
          <p:cNvPr id="125" name="Shape 123"/>
          <p:cNvSpPr/>
          <p:nvPr/>
        </p:nvSpPr>
        <p:spPr>
          <a:xfrm>
            <a:off x="15366492" y="29672280"/>
            <a:ext cx="14269212" cy="0"/>
          </a:xfrm>
          <a:prstGeom prst="line">
            <a:avLst/>
          </a:prstGeom>
          <a:noFill/>
          <a:ln w="50800">
            <a:solidFill>
              <a:srgbClr val="065A82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5366492" y="29992320"/>
            <a:ext cx="14269212" cy="475488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まとめ</a:t>
            </a:r>
            <a:endParaRPr lang="en-US" sz="25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・バー IMU と骨格推定を統合するマルチモーダル RPE 推定システムを設計・実装した。</a:t>
            </a:r>
            <a:endParaRPr lang="en-US" sz="25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・単眼側面視動画において、MediaPipe Pose はバーベル遮蔽下で検出失敗率32%と実用困難だったが、YOLO26 Pose への置換で6%まで低減した (▼26pt)。</a:t>
            </a:r>
            <a:endParaRPr lang="en-US" sz="25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・合成データを用いたパイプライン検証で、Gradient Boosting モデルが MAE=0.18, ±1RPE以内100%を達成した (被験者間 LOSO CV)。</a:t>
            </a:r>
            <a:endParaRPr lang="en-US" sz="2500" dirty="0"/>
          </a:p>
        </p:txBody>
      </p:sp>
      <p:sp>
        <p:nvSpPr>
          <p:cNvPr id="127" name="Text 125"/>
          <p:cNvSpPr/>
          <p:nvPr/>
        </p:nvSpPr>
        <p:spPr>
          <a:xfrm>
            <a:off x="15366492" y="34930080"/>
            <a:ext cx="14269212" cy="5486400"/>
          </a:xfrm>
          <a:prstGeom prst="rect">
            <a:avLst/>
          </a:prstGeom>
          <a:noFill/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今後の課題</a:t>
            </a:r>
            <a:endParaRPr lang="en-US" sz="25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実被験者データの収集 (N=10-15を目標、倫理審査申請中)</a:t>
            </a:r>
            <a:endParaRPr lang="en-US" sz="25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撮影角度の最適化 (真横 vs 斜め45度の比較検証)</a:t>
            </a:r>
            <a:endParaRPr lang="en-US" sz="25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IMU と動画の高精度時刻同期 (LEDフラッシュ法の実装)</a:t>
            </a:r>
            <a:endParaRPr lang="en-US" sz="25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Mean Propulsive Velocity (MPV) 等の追加特徴量による精度改善</a:t>
            </a:r>
            <a:endParaRPr lang="en-US" sz="25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アブレーション研究 (IMU only vs Pose only vs 統合)</a:t>
            </a:r>
            <a:endParaRPr lang="en-US" sz="2500" dirty="0"/>
          </a:p>
          <a:p>
            <a:pPr indent="0" marL="0">
              <a:buNone/>
            </a:pPr>
            <a:r>
              <a:rPr lang="en-US" sz="22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実運用を想定したリアルタイム推論・エッジ実装への発展</a:t>
            </a:r>
            <a:endParaRPr lang="en-US" sz="2500" dirty="0"/>
          </a:p>
        </p:txBody>
      </p:sp>
      <p:sp>
        <p:nvSpPr>
          <p:cNvPr id="128" name="Shape 126"/>
          <p:cNvSpPr/>
          <p:nvPr/>
        </p:nvSpPr>
        <p:spPr>
          <a:xfrm>
            <a:off x="0" y="41431464"/>
            <a:ext cx="30275784" cy="13716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57200" y="41568624"/>
            <a:ext cx="29361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主要参考文献: </a:t>
            </a:r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González-Badillo &amp; Sánchez-Medina (2010) Int J Sports Med. | Zourdos et al. (2016) J Strength Cond Res. | 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Bazarevsky et al. (2020) BlazePose, arXiv. | Ultralytics YOLO26 (2026) arXiv:2606.03748.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2026-07-22T08:05:18Z</dcterms:created>
  <dcterms:modified xsi:type="dcterms:W3CDTF">2026-07-22T08:05:18Z</dcterms:modified>
</cp:coreProperties>
</file>